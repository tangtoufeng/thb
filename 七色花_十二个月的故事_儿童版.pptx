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274320" y="274320"/>
            <a:ext cx="731520" cy="73152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1155680" y="457200"/>
            <a:ext cx="640080" cy="640080"/>
          </a:xfrm>
          <a:prstGeom prst="star5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457200" y="5943600"/>
            <a:ext cx="548640" cy="548640"/>
          </a:xfrm>
          <a:prstGeom prst="star5">
            <a:avLst/>
          </a:prstGeom>
          <a:solidFill>
            <a:srgbClr val="DDA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789920" y="5669280"/>
            <a:ext cx="822960" cy="822960"/>
          </a:xfrm>
          <a:prstGeom prst="star5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微软雅黑"/>
              </a:defRPr>
            </a:pPr>
            <a:r>
              <a:t>七色花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DF64"/>
                </a:solidFill>
                <a:latin typeface="楷体"/>
              </a:defRPr>
            </a:pPr>
            <a:r>
              <a:t>十二个月的故事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微软雅黑"/>
              </a:defRPr>
            </a:pPr>
            <a:r>
              <a:t>二年级朗诵介绍</a:t>
            </a:r>
          </a:p>
        </p:txBody>
      </p:sp>
      <p:sp>
        <p:nvSpPr>
          <p:cNvPr id="10" name="5-Point Star 9"/>
          <p:cNvSpPr/>
          <p:nvPr/>
        </p:nvSpPr>
        <p:spPr>
          <a:xfrm>
            <a:off x="1828800" y="5943600"/>
            <a:ext cx="365760" cy="36576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4114800" y="5943600"/>
            <a:ext cx="365760" cy="36576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400800" y="5943600"/>
            <a:ext cx="365760" cy="36576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686800" y="5943600"/>
            <a:ext cx="365760" cy="36576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972800" y="5943600"/>
            <a:ext cx="365760" cy="36576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4513"/>
                </a:solidFill>
                <a:latin typeface="微软雅黑"/>
              </a:defRPr>
            </a:pPr>
            <a:r>
              <a:t>故事简介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274320" y="274320"/>
            <a:ext cx="548640" cy="54864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430000" y="274320"/>
            <a:ext cx="548640" cy="548640"/>
          </a:xfrm>
          <a:prstGeom prst="star5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solidFill>
            <a:srgbClr val="F0F0F0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  <a:latin typeface="微软雅黑"/>
              </a:defRPr>
            </a:pPr>
            <a:r>
              <a:t>【可以放故事书封面图】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50321E"/>
                </a:solidFill>
                <a:latin typeface="微软雅黑"/>
              </a:defRPr>
            </a:pPr>
            <a:r>
              <a:t>《七色花》是俄罗斯</a:t>
            </a:r>
            <a:br/>
            <a:r>
              <a:t>著名童话故事</a:t>
            </a:r>
            <a:br/>
            <a:br/>
            <a:r>
              <a:t>十二个月的故事讲述了：</a:t>
            </a:r>
            <a:br/>
            <a:r>
              <a:t>正月、二月、三月</a:t>
            </a:r>
            <a:br/>
            <a:r>
              <a:t>三位老人用魔法杖</a:t>
            </a:r>
            <a:br/>
            <a:r>
              <a:t>改变季节的神奇故事</a:t>
            </a:r>
            <a:br/>
            <a:br/>
            <a:r>
              <a:t>他们让严寒退去</a:t>
            </a:r>
            <a:br/>
            <a:r>
              <a:t>让春风吹拂</a:t>
            </a:r>
            <a:br/>
            <a:r>
              <a:t>让万物复苏</a:t>
            </a:r>
          </a:p>
        </p:txBody>
      </p:sp>
      <p:sp>
        <p:nvSpPr>
          <p:cNvPr id="9" name="Cloud 8"/>
          <p:cNvSpPr/>
          <p:nvPr/>
        </p:nvSpPr>
        <p:spPr>
          <a:xfrm>
            <a:off x="914400" y="5760720"/>
            <a:ext cx="1828800" cy="73152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9144000" y="5943600"/>
            <a:ext cx="2286000" cy="82296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191970"/>
                </a:solidFill>
                <a:latin typeface="微软雅黑"/>
              </a:defRPr>
            </a:pPr>
            <a:r>
              <a:t>正月爷爷</a:t>
            </a:r>
          </a:p>
        </p:txBody>
      </p:sp>
      <p:sp>
        <p:nvSpPr>
          <p:cNvPr id="4" name="6-Point Star 3"/>
          <p:cNvSpPr/>
          <p:nvPr/>
        </p:nvSpPr>
        <p:spPr>
          <a:xfrm>
            <a:off x="274320" y="274320"/>
            <a:ext cx="548640" cy="548640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6-Point Star 4"/>
          <p:cNvSpPr/>
          <p:nvPr/>
        </p:nvSpPr>
        <p:spPr>
          <a:xfrm>
            <a:off x="11430000" y="365760"/>
            <a:ext cx="457200" cy="457200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6-Point Star 5"/>
          <p:cNvSpPr/>
          <p:nvPr/>
        </p:nvSpPr>
        <p:spPr>
          <a:xfrm>
            <a:off x="457200" y="5943600"/>
            <a:ext cx="457200" cy="457200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6-Point Star 6"/>
          <p:cNvSpPr/>
          <p:nvPr/>
        </p:nvSpPr>
        <p:spPr>
          <a:xfrm>
            <a:off x="11247120" y="5760720"/>
            <a:ext cx="548640" cy="548640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286000"/>
            <a:ext cx="1097280" cy="1152144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3108960"/>
            <a:ext cx="219456" cy="8229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2560320"/>
            <a:ext cx="914400" cy="960119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3246120"/>
            <a:ext cx="182880" cy="6858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1900">
                <a:solidFill>
                  <a:srgbClr val="282864"/>
                </a:solidFill>
                <a:latin typeface="楷体"/>
              </a:defRPr>
            </a:pPr>
            <a:r>
              <a:t>正月用自己的冰杖敲了一敲大地，</a:t>
            </a:r>
            <a:br/>
            <a:r>
              <a:t>就念起咒文：</a:t>
            </a:r>
            <a:br/>
            <a:br/>
            <a:r>
              <a:t>"严寒，不要在禁地的松林里</a:t>
            </a:r>
            <a:br/>
            <a:r>
              <a:t>再把树木冻得发出破裂声吧。</a:t>
            </a:r>
            <a:br/>
            <a:r>
              <a:t>不要再咬去松树和白桦树的树皮吧！</a:t>
            </a:r>
            <a:br/>
            <a:r>
              <a:t>你们已经把鸦雀冻得够可怜啦，</a:t>
            </a:r>
            <a:br/>
            <a:r>
              <a:t>你们把人类的住所也冻得够冰冷啦！"</a:t>
            </a:r>
            <a:br/>
            <a:br/>
            <a:r>
              <a:t>老头儿话音刚落，树林里也变得静寂无声。</a:t>
            </a:r>
            <a:br/>
            <a:r>
              <a:t>树木不再因为严寒而发出碎裂的响声，</a:t>
            </a:r>
            <a:br/>
            <a:r>
              <a:t>白雪也开始像大块柔软的棉花，成堆地掉下来。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4B0082"/>
                </a:solidFill>
                <a:latin typeface="微软雅黑"/>
              </a:defRPr>
            </a:pPr>
            <a:r>
              <a:t>二月爷爷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274320" cy="274320"/>
          </a:xfrm>
          <a:prstGeom prst="ellipse">
            <a:avLst/>
          </a:prstGeom>
          <a:solidFill>
            <a:srgbClr val="C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365760"/>
            <a:ext cx="228600" cy="228600"/>
          </a:xfrm>
          <a:prstGeom prst="ellipse">
            <a:avLst/>
          </a:prstGeom>
          <a:solidFill>
            <a:srgbClr val="C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731520"/>
            <a:ext cx="274320" cy="274320"/>
          </a:xfrm>
          <a:prstGeom prst="ellipse">
            <a:avLst/>
          </a:prstGeom>
          <a:solidFill>
            <a:srgbClr val="C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0" y="731520"/>
            <a:ext cx="228600" cy="228600"/>
          </a:xfrm>
          <a:prstGeom prst="ellipse">
            <a:avLst/>
          </a:prstGeom>
          <a:solidFill>
            <a:srgbClr val="C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005840"/>
            <a:ext cx="274320" cy="274320"/>
          </a:xfrm>
          <a:prstGeom prst="ellipse">
            <a:avLst/>
          </a:prstGeom>
          <a:solidFill>
            <a:srgbClr val="C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95760" y="1097280"/>
            <a:ext cx="228600" cy="228600"/>
          </a:xfrm>
          <a:prstGeom prst="ellipse">
            <a:avLst/>
          </a:prstGeom>
          <a:solidFill>
            <a:srgbClr val="C8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3200400" cy="2743200"/>
          </a:xfrm>
          <a:prstGeom prst="rect">
            <a:avLst/>
          </a:prstGeom>
          <a:solidFill>
            <a:srgbClr val="F0F0F0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560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  <a:latin typeface="微软雅黑"/>
              </a:defRPr>
            </a:pPr>
            <a:r>
              <a:t>【可以放风雪图片】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1900">
                <a:solidFill>
                  <a:srgbClr val="3C0064"/>
                </a:solidFill>
                <a:latin typeface="楷体"/>
              </a:defRPr>
            </a:pPr>
            <a:r>
              <a:t>二月敲着手杖，摇着胡子，低声唱道：</a:t>
            </a:r>
            <a:br/>
            <a:br/>
            <a:r>
              <a:t>"风啊，暴风啊，飓风啊，</a:t>
            </a:r>
            <a:br/>
            <a:r>
              <a:t>你们尽力地吹吧！</a:t>
            </a:r>
            <a:br/>
            <a:r>
              <a:t>旋风啊，暴风啊，</a:t>
            </a:r>
            <a:br/>
            <a:r>
              <a:t>在夜晚时刮起来吧！</a:t>
            </a:r>
            <a:br/>
            <a:r>
              <a:t>你们在云里高声地嚎叫，</a:t>
            </a:r>
            <a:br/>
            <a:r>
              <a:t>你们吹过大地。</a:t>
            </a:r>
            <a:br/>
            <a:r>
              <a:t>让雪像白蛇一样地在田野里奔驰吧！"</a:t>
            </a:r>
            <a:br/>
            <a:br/>
            <a:r>
              <a:t>当他才把话讲完，</a:t>
            </a:r>
            <a:br/>
            <a:r>
              <a:t>潮湿的狂风就在树枝中间喧响起来。</a:t>
            </a:r>
            <a:br/>
            <a:r>
              <a:t>雪花飞舞着，白色的旋风刮过大地。</a:t>
            </a:r>
          </a:p>
        </p:txBody>
      </p:sp>
      <p:sp>
        <p:nvSpPr>
          <p:cNvPr id="13" name="6-Point Star 12"/>
          <p:cNvSpPr/>
          <p:nvPr/>
        </p:nvSpPr>
        <p:spPr>
          <a:xfrm>
            <a:off x="914400" y="5943600"/>
            <a:ext cx="365760" cy="365760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6-Point Star 13"/>
          <p:cNvSpPr/>
          <p:nvPr/>
        </p:nvSpPr>
        <p:spPr>
          <a:xfrm>
            <a:off x="3657600" y="5943600"/>
            <a:ext cx="365760" cy="365760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6-Point Star 14"/>
          <p:cNvSpPr/>
          <p:nvPr/>
        </p:nvSpPr>
        <p:spPr>
          <a:xfrm>
            <a:off x="6400800" y="5943600"/>
            <a:ext cx="365760" cy="365760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6-Point Star 15"/>
          <p:cNvSpPr/>
          <p:nvPr/>
        </p:nvSpPr>
        <p:spPr>
          <a:xfrm>
            <a:off x="9144000" y="5943600"/>
            <a:ext cx="365760" cy="365760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228B22"/>
                </a:solidFill>
                <a:latin typeface="微软雅黑"/>
              </a:defRPr>
            </a:pPr>
            <a:r>
              <a:t>三月孩子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731520" cy="7315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ave 4"/>
          <p:cNvSpPr/>
          <p:nvPr/>
        </p:nvSpPr>
        <p:spPr>
          <a:xfrm>
            <a:off x="10515600" y="457200"/>
            <a:ext cx="1097280" cy="457200"/>
          </a:xfrm>
          <a:prstGeom prst="wav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ave 5"/>
          <p:cNvSpPr/>
          <p:nvPr/>
        </p:nvSpPr>
        <p:spPr>
          <a:xfrm>
            <a:off x="10789920" y="731520"/>
            <a:ext cx="914400" cy="365760"/>
          </a:xfrm>
          <a:prstGeom prst="wav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200400" cy="2743200"/>
          </a:xfrm>
          <a:prstGeom prst="rect">
            <a:avLst/>
          </a:prstGeom>
          <a:solidFill>
            <a:srgbClr val="F0F0F0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  <a:latin typeface="微软雅黑"/>
              </a:defRPr>
            </a:pPr>
            <a:r>
              <a:t>【可以放春天图片】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1900">
                <a:solidFill>
                  <a:srgbClr val="145014"/>
                </a:solidFill>
                <a:latin typeface="楷体"/>
              </a:defRPr>
            </a:pPr>
            <a:r>
              <a:t>三月用他孩子的声音大笑着，</a:t>
            </a:r>
            <a:br/>
            <a:r>
              <a:t>并且响亮地歌唱着：</a:t>
            </a:r>
            <a:br/>
            <a:br/>
            <a:r>
              <a:t>"雪已经不再是从前的样子了</a:t>
            </a:r>
            <a:br/>
            <a:r>
              <a:t>——它们已经在田野里发黑啦。</a:t>
            </a:r>
            <a:br/>
            <a:r>
              <a:t>湖上的冰已经裂开，</a:t>
            </a:r>
            <a:br/>
            <a:r>
              <a:t>就好像有人把它们敲碎一样。</a:t>
            </a:r>
            <a:br/>
            <a:r>
              <a:t>云飞得更快，天变得更高，</a:t>
            </a:r>
            <a:br/>
            <a:r>
              <a:t>麻雀在屋脊上更加愉快地鸣叫。</a:t>
            </a:r>
            <a:br/>
            <a:r>
              <a:t>细径和小路一天一天地露出黑色来，</a:t>
            </a:r>
            <a:br/>
            <a:r>
              <a:t>杨柳树上的白花，像银子一样地闪着光。</a:t>
            </a:r>
          </a:p>
        </p:txBody>
      </p:sp>
      <p:sp>
        <p:nvSpPr>
          <p:cNvPr id="10" name="5-Point Star 9"/>
          <p:cNvSpPr/>
          <p:nvPr/>
        </p:nvSpPr>
        <p:spPr>
          <a:xfrm>
            <a:off x="914400" y="5852160"/>
            <a:ext cx="457200" cy="457200"/>
          </a:xfrm>
          <a:prstGeom prst="star5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3200400" y="5852160"/>
            <a:ext cx="457200" cy="457200"/>
          </a:xfrm>
          <a:prstGeom prst="star5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5486400" y="5852160"/>
            <a:ext cx="457200" cy="457200"/>
          </a:xfrm>
          <a:prstGeom prst="star5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7772400" y="5852160"/>
            <a:ext cx="457200" cy="457200"/>
          </a:xfrm>
          <a:prstGeom prst="star5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058400" y="5852160"/>
            <a:ext cx="457200" cy="457200"/>
          </a:xfrm>
          <a:prstGeom prst="star5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C71585"/>
                </a:solidFill>
                <a:latin typeface="微软雅黑"/>
              </a:defRPr>
            </a:pPr>
            <a:r>
              <a:t>春天来了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18288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ave 4"/>
          <p:cNvSpPr/>
          <p:nvPr/>
        </p:nvSpPr>
        <p:spPr>
          <a:xfrm>
            <a:off x="10058400" y="365760"/>
            <a:ext cx="731520" cy="320040"/>
          </a:xfrm>
          <a:prstGeom prst="wav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ave 5"/>
          <p:cNvSpPr/>
          <p:nvPr/>
        </p:nvSpPr>
        <p:spPr>
          <a:xfrm>
            <a:off x="10515600" y="640080"/>
            <a:ext cx="731520" cy="320040"/>
          </a:xfrm>
          <a:prstGeom prst="wav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ave 6"/>
          <p:cNvSpPr/>
          <p:nvPr/>
        </p:nvSpPr>
        <p:spPr>
          <a:xfrm>
            <a:off x="10972800" y="914400"/>
            <a:ext cx="731520" cy="320040"/>
          </a:xfrm>
          <a:prstGeom prst="wav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200400" cy="2743200"/>
          </a:xfrm>
          <a:prstGeom prst="rect">
            <a:avLst/>
          </a:prstGeom>
          <a:solidFill>
            <a:srgbClr val="F0F0F0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560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  <a:latin typeface="微软雅黑"/>
              </a:defRPr>
            </a:pPr>
            <a:r>
              <a:t>【可以放小动物图片】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2400">
                <a:solidFill>
                  <a:srgbClr val="961464"/>
                </a:solidFill>
                <a:latin typeface="楷体"/>
              </a:defRPr>
            </a:pPr>
            <a:r>
              <a:t>"奔流吧！小河啊！</a:t>
            </a:r>
            <a:br/>
            <a:r>
              <a:t>高涨吧！水潭啊！</a:t>
            </a:r>
            <a:br/>
            <a:r>
              <a:t>蚂蚁们，在冬天的寒气之后，</a:t>
            </a:r>
            <a:br/>
            <a:r>
              <a:t>一起爬出来吧！</a:t>
            </a:r>
            <a:br/>
            <a:r>
              <a:t>大熊穿过了森林里倒下的树木。</a:t>
            </a:r>
            <a:br/>
            <a:r>
              <a:t>鸟儿们都开始唱歌。</a:t>
            </a:r>
            <a:br/>
            <a:r>
              <a:t>白雪花也盛开啦。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914400" y="5943600"/>
            <a:ext cx="548640" cy="54864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2743200" y="5760720"/>
            <a:ext cx="457200" cy="457200"/>
          </a:xfrm>
          <a:prstGeom prst="star5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9144000" y="5852160"/>
            <a:ext cx="548640" cy="548640"/>
          </a:xfrm>
          <a:prstGeom prst="star5">
            <a:avLst/>
          </a:prstGeom>
          <a:solidFill>
            <a:srgbClr val="DDA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789920" y="6035040"/>
            <a:ext cx="457200" cy="457200"/>
          </a:xfrm>
          <a:prstGeom prst="star5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8860B"/>
                </a:solidFill>
                <a:latin typeface="微软雅黑"/>
              </a:defRPr>
            </a:pPr>
            <a:r>
              <a:t>朗诵小提示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274320" y="274320"/>
            <a:ext cx="457200" cy="4572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1430000" y="274320"/>
            <a:ext cx="457200" cy="4572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solidFill>
            <a:srgbClr val="F0F0F0"/>
          </a:solidFill>
          <a:ln w="254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  <a:latin typeface="微软雅黑"/>
              </a:defRPr>
            </a:pPr>
            <a:r>
              <a:t>【可以放小朋友朗诵照片】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200">
                <a:solidFill>
                  <a:srgbClr val="64501E"/>
                </a:solidFill>
                <a:latin typeface="微软雅黑"/>
              </a:defRPr>
            </a:pPr>
            <a:r>
              <a:t>1. 正月的咒文</a:t>
            </a:r>
            <a:br/>
            <a:r>
              <a:t>   ——声音低沉、缓慢</a:t>
            </a:r>
            <a:br/>
            <a:r>
              <a:t>   像老爷爷说话</a:t>
            </a:r>
            <a:br/>
            <a:br/>
            <a:r>
              <a:t>2. 二月的歌唱</a:t>
            </a:r>
            <a:br/>
            <a:r>
              <a:t>   ——声音有力、有气势</a:t>
            </a:r>
            <a:br/>
            <a:r>
              <a:t>   像风吹过的感觉</a:t>
            </a:r>
            <a:br/>
            <a:br/>
            <a:r>
              <a:t>3. 三月的欢笑</a:t>
            </a:r>
            <a:br/>
            <a:r>
              <a:t>   ——声音明亮、欢快</a:t>
            </a:r>
            <a:br/>
            <a:r>
              <a:t>   像小孩子唱歌</a:t>
            </a:r>
            <a:br/>
            <a:br/>
            <a:r>
              <a:t>4. 读到春天来临时</a:t>
            </a:r>
            <a:br/>
            <a:r>
              <a:t>   ——语气越来越轻快</a:t>
            </a:r>
            <a:br/>
            <a:r>
              <a:t>   越来越开心</a:t>
            </a:r>
            <a:br/>
            <a:br/>
            <a:r>
              <a:t>5. 注意停顿和换气</a:t>
            </a:r>
            <a:br/>
            <a:r>
              <a:t>   让听众能感受到</a:t>
            </a:r>
            <a:br/>
            <a:r>
              <a:t>   季节的变化</a:t>
            </a:r>
          </a:p>
        </p:txBody>
      </p:sp>
      <p:sp>
        <p:nvSpPr>
          <p:cNvPr id="9" name="5-Point Star 8"/>
          <p:cNvSpPr/>
          <p:nvPr/>
        </p:nvSpPr>
        <p:spPr>
          <a:xfrm>
            <a:off x="914400" y="6035040"/>
            <a:ext cx="365760" cy="36576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2743200" y="6035040"/>
            <a:ext cx="365760" cy="36576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4572000" y="6035040"/>
            <a:ext cx="365760" cy="36576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6400800" y="6035040"/>
            <a:ext cx="365760" cy="36576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8229600" y="6035040"/>
            <a:ext cx="365760" cy="36576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0058400" y="6035040"/>
            <a:ext cx="365760" cy="36576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274320" y="274320"/>
            <a:ext cx="731520" cy="731520"/>
          </a:xfrm>
          <a:prstGeom prst="star5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11155680" y="457200"/>
            <a:ext cx="640080" cy="640080"/>
          </a:xfrm>
          <a:prstGeom prst="star5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457200" y="5943600"/>
            <a:ext cx="548640" cy="548640"/>
          </a:xfrm>
          <a:prstGeom prst="star5">
            <a:avLst/>
          </a:prstGeom>
          <a:solidFill>
            <a:srgbClr val="DDA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10789920" y="5669280"/>
            <a:ext cx="822960" cy="822960"/>
          </a:xfrm>
          <a:prstGeom prst="star5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谢谢大家！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DF64"/>
                </a:solidFill>
                <a:latin typeface="楷体"/>
              </a:defRPr>
            </a:pPr>
            <a:r>
              <a:t>请欣赏《七色花》朗诵</a:t>
            </a:r>
          </a:p>
        </p:txBody>
      </p:sp>
      <p:sp>
        <p:nvSpPr>
          <p:cNvPr id="9" name="5-Point Star 8"/>
          <p:cNvSpPr/>
          <p:nvPr/>
        </p:nvSpPr>
        <p:spPr>
          <a:xfrm>
            <a:off x="1828800" y="5669280"/>
            <a:ext cx="457200" cy="4572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5-Point Star 9"/>
          <p:cNvSpPr/>
          <p:nvPr/>
        </p:nvSpPr>
        <p:spPr>
          <a:xfrm>
            <a:off x="4114800" y="5669280"/>
            <a:ext cx="457200" cy="4572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6400800" y="5669280"/>
            <a:ext cx="457200" cy="4572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8686800" y="5669280"/>
            <a:ext cx="457200" cy="4572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10972800" y="5669280"/>
            <a:ext cx="457200" cy="457200"/>
          </a:xfrm>
          <a:prstGeom prst="star5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