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612648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七色花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DF64"/>
                </a:solidFill>
                <a:latin typeface="楷体"/>
              </a:defRPr>
            </a:pPr>
            <a:r>
              <a:t>十二个月的故事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微软雅黑"/>
              </a:defRPr>
            </a:pPr>
            <a:r>
              <a:t>二年级朗诵介绍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4513"/>
                </a:solidFill>
                <a:latin typeface="微软雅黑"/>
              </a:defRPr>
            </a:pPr>
            <a:r>
              <a:t>故事简介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600">
                <a:solidFill>
                  <a:srgbClr val="50321E"/>
                </a:solidFill>
                <a:latin typeface="微软雅黑"/>
              </a:defRPr>
            </a:pPr>
            <a:r>
              <a:t>《七色花》是俄罗斯著名童话故事</a:t>
            </a:r>
            <a:br/>
            <a:br/>
            <a:r>
              <a:t>十二个月的故事讲述了：</a:t>
            </a:r>
            <a:br/>
            <a:br/>
            <a:r>
              <a:t>正月、二月、三月三位老人</a:t>
            </a:r>
            <a:br/>
            <a:r>
              <a:t>用魔法杖改变季节的神奇故事</a:t>
            </a:r>
            <a:br/>
            <a:br/>
            <a:r>
              <a:t>他们让严寒退去</a:t>
            </a:r>
            <a:br/>
            <a:r>
              <a:t>让春风吹拂</a:t>
            </a:r>
            <a:br/>
            <a:r>
              <a:t>让万物复苏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191970"/>
                </a:solidFill>
                <a:latin typeface="微软雅黑"/>
              </a:defRPr>
            </a:pPr>
            <a:r>
              <a:t>正月爷爷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2200">
                <a:solidFill>
                  <a:srgbClr val="282864"/>
                </a:solidFill>
                <a:latin typeface="楷体"/>
              </a:defRPr>
            </a:pPr>
            <a:r>
              <a:t>正月用自己的冰杖敲了一敲大地，</a:t>
            </a:r>
            <a:br/>
            <a:r>
              <a:t>就念起咒文：</a:t>
            </a:r>
            <a:br/>
            <a:br/>
            <a:r>
              <a:t>"严寒，不要在禁地的松林里</a:t>
            </a:r>
            <a:br/>
            <a:r>
              <a:t>再把树木冻得发出破裂声吧。</a:t>
            </a:r>
            <a:br/>
            <a:r>
              <a:t>不要再咬去松树和白桦树的树皮吧！</a:t>
            </a:r>
            <a:br/>
            <a:r>
              <a:t>你们已经把鸦雀冻得够可怜啦，</a:t>
            </a:r>
            <a:br/>
            <a:r>
              <a:t>你们把人类的住所也冻得够冰冷啦！"</a:t>
            </a:r>
            <a:br/>
            <a:br/>
            <a:r>
              <a:t>老头儿话音刚落，树林里也变得静寂无声。</a:t>
            </a:r>
            <a:br/>
            <a:r>
              <a:t>树木不再因为严寒而发出碎裂的响声，</a:t>
            </a:r>
            <a:br/>
            <a:r>
              <a:t>白雪也开始像大块柔软的棉花，成堆地掉下来。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4B0082"/>
                </a:solidFill>
                <a:latin typeface="微软雅黑"/>
              </a:defRPr>
            </a:pPr>
            <a:r>
              <a:t>二月爷爷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2200">
                <a:solidFill>
                  <a:srgbClr val="3C0064"/>
                </a:solidFill>
                <a:latin typeface="楷体"/>
              </a:defRPr>
            </a:pPr>
            <a:r>
              <a:t>二月敲着手杖，摇着胡子，低声唱道：</a:t>
            </a:r>
            <a:br/>
            <a:br/>
            <a:r>
              <a:t>"风啊，暴风啊，飓风啊，</a:t>
            </a:r>
            <a:br/>
            <a:r>
              <a:t>你们尽力地吹吧！</a:t>
            </a:r>
            <a:br/>
            <a:r>
              <a:t>旋风啊，暴风啊，</a:t>
            </a:r>
            <a:br/>
            <a:r>
              <a:t>在夜晚时刮起来吧！</a:t>
            </a:r>
            <a:br/>
            <a:r>
              <a:t>你们在云里高声地嚎叫，</a:t>
            </a:r>
            <a:br/>
            <a:r>
              <a:t>你们吹过大地。</a:t>
            </a:r>
            <a:br/>
            <a:r>
              <a:t>让雪像白蛇一样地在田野里奔驰吧！"</a:t>
            </a:r>
            <a:br/>
            <a:br/>
            <a:r>
              <a:t>当他才把话讲完，</a:t>
            </a:r>
            <a:br/>
            <a:r>
              <a:t>潮湿的狂风就在树枝中间喧响起来。</a:t>
            </a:r>
            <a:br/>
            <a:r>
              <a:t>雪花飞舞着，白色的旋风刮过大地。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28B22"/>
                </a:solidFill>
                <a:latin typeface="微软雅黑"/>
              </a:defRPr>
            </a:pPr>
            <a:r>
              <a:t>三月孩子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2200">
                <a:solidFill>
                  <a:srgbClr val="145014"/>
                </a:solidFill>
                <a:latin typeface="楷体"/>
              </a:defRPr>
            </a:pPr>
            <a:r>
              <a:t>三月用他孩子的声音大笑着，</a:t>
            </a:r>
            <a:br/>
            <a:r>
              <a:t>并且响亮地歌唱着：</a:t>
            </a:r>
            <a:br/>
            <a:br/>
            <a:r>
              <a:t>"雪已经不再是从前的样子了</a:t>
            </a:r>
            <a:br/>
            <a:r>
              <a:t>——它们已经在田野里发黑啦。</a:t>
            </a:r>
            <a:br/>
            <a:r>
              <a:t>湖上的冰已经裂开，</a:t>
            </a:r>
            <a:br/>
            <a:r>
              <a:t>就好像有人把它们敲碎一样。</a:t>
            </a:r>
            <a:br/>
            <a:r>
              <a:t>云飞得更快，天变得更高，</a:t>
            </a:r>
            <a:br/>
            <a:r>
              <a:t>麻雀在屋脊上更加愉快地鸣叫。</a:t>
            </a:r>
            <a:br/>
            <a:r>
              <a:t>细径和小路一天一天地露出黑色来，</a:t>
            </a:r>
            <a:br/>
            <a:r>
              <a:t>杨柳树上的白花，像银子一样地闪着光。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C71585"/>
                </a:solidFill>
                <a:latin typeface="微软雅黑"/>
              </a:defRPr>
            </a:pPr>
            <a:r>
              <a:t>春天来了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80000"/>
              </a:lnSpc>
              <a:defRPr sz="2600">
                <a:solidFill>
                  <a:srgbClr val="961464"/>
                </a:solidFill>
                <a:latin typeface="楷体"/>
              </a:defRPr>
            </a:pPr>
            <a:r>
              <a:t>"奔流吧！小河啊！</a:t>
            </a:r>
            <a:br/>
            <a:r>
              <a:t>高涨吧！水潭啊！</a:t>
            </a:r>
            <a:br/>
            <a:r>
              <a:t>蚂蚁们，在冬天的寒气之后，</a:t>
            </a:r>
            <a:br/>
            <a:r>
              <a:t>一起爬出来吧！</a:t>
            </a:r>
            <a:br/>
            <a:r>
              <a:t>大熊穿过了森林里倒下的树木。</a:t>
            </a:r>
            <a:br/>
            <a:r>
              <a:t>鸟儿们都开始唱歌。</a:t>
            </a:r>
            <a:br/>
            <a:r>
              <a:t>白雪花也盛开啦。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8860B"/>
                </a:solidFill>
                <a:latin typeface="微软雅黑"/>
              </a:defRPr>
            </a:pPr>
            <a:r>
              <a:t>朗诵小提示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400">
                <a:solidFill>
                  <a:srgbClr val="64501E"/>
                </a:solidFill>
                <a:latin typeface="微软雅黑"/>
              </a:defRPr>
            </a:pPr>
            <a:r>
              <a:t>1. 正月的咒文——声音低沉、缓慢，像老爷爷说话</a:t>
            </a:r>
            <a:br/>
            <a:br/>
            <a:r>
              <a:t>2. 二月的歌唱——声音有力、有气势，像风吹过的感觉</a:t>
            </a:r>
            <a:br/>
            <a:br/>
            <a:r>
              <a:t>3. 三月的欢笑——声音明亮、欢快，像小孩子唱歌</a:t>
            </a:r>
            <a:br/>
            <a:br/>
            <a:r>
              <a:t>4. 读到春天来临时——语气越来越轻快、越来越开心</a:t>
            </a:r>
            <a:br/>
            <a:br/>
            <a:r>
              <a:t>5. 注意停顿和换气，让听众能感受到季节的变化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" y="18288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0" y="612648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谢谢大家！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F64"/>
                </a:solidFill>
                <a:latin typeface="楷体"/>
              </a:defRPr>
            </a:pPr>
            <a:r>
              <a:t>请欣赏《七色花》朗诵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